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1" d="100"/>
          <a:sy n="91" d="100"/>
        </p:scale>
        <p:origin x="3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29F2CC3-C67E-48F7-90C2-A4AA590700CF}"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73E0CB-6DBD-4B27-A26C-B2DEDD569D0C}" type="slidenum">
              <a:rPr lang="en-IN" smtClean="0"/>
              <a:t>‹#›</a:t>
            </a:fld>
            <a:endParaRPr lang="en-IN"/>
          </a:p>
        </p:txBody>
      </p:sp>
    </p:spTree>
    <p:extLst>
      <p:ext uri="{BB962C8B-B14F-4D97-AF65-F5344CB8AC3E}">
        <p14:creationId xmlns:p14="http://schemas.microsoft.com/office/powerpoint/2010/main" val="3853302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9F2CC3-C67E-48F7-90C2-A4AA590700CF}"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73E0CB-6DBD-4B27-A26C-B2DEDD569D0C}" type="slidenum">
              <a:rPr lang="en-IN" smtClean="0"/>
              <a:t>‹#›</a:t>
            </a:fld>
            <a:endParaRPr lang="en-IN"/>
          </a:p>
        </p:txBody>
      </p:sp>
    </p:spTree>
    <p:extLst>
      <p:ext uri="{BB962C8B-B14F-4D97-AF65-F5344CB8AC3E}">
        <p14:creationId xmlns:p14="http://schemas.microsoft.com/office/powerpoint/2010/main" val="4167364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9F2CC3-C67E-48F7-90C2-A4AA590700CF}"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73E0CB-6DBD-4B27-A26C-B2DEDD569D0C}" type="slidenum">
              <a:rPr lang="en-IN" smtClean="0"/>
              <a:t>‹#›</a:t>
            </a:fld>
            <a:endParaRPr lang="en-IN"/>
          </a:p>
        </p:txBody>
      </p:sp>
    </p:spTree>
    <p:extLst>
      <p:ext uri="{BB962C8B-B14F-4D97-AF65-F5344CB8AC3E}">
        <p14:creationId xmlns:p14="http://schemas.microsoft.com/office/powerpoint/2010/main" val="3419130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29F2CC3-C67E-48F7-90C2-A4AA590700CF}"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73E0CB-6DBD-4B27-A26C-B2DEDD569D0C}" type="slidenum">
              <a:rPr lang="en-IN" smtClean="0"/>
              <a:t>‹#›</a:t>
            </a:fld>
            <a:endParaRPr lang="en-IN"/>
          </a:p>
        </p:txBody>
      </p:sp>
    </p:spTree>
    <p:extLst>
      <p:ext uri="{BB962C8B-B14F-4D97-AF65-F5344CB8AC3E}">
        <p14:creationId xmlns:p14="http://schemas.microsoft.com/office/powerpoint/2010/main" val="4092867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9F2CC3-C67E-48F7-90C2-A4AA590700CF}" type="datetimeFigureOut">
              <a:rPr lang="en-IN" smtClean="0"/>
              <a:t>04-07-2026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573E0CB-6DBD-4B27-A26C-B2DEDD569D0C}" type="slidenum">
              <a:rPr lang="en-IN" smtClean="0"/>
              <a:t>‹#›</a:t>
            </a:fld>
            <a:endParaRPr lang="en-IN"/>
          </a:p>
        </p:txBody>
      </p:sp>
    </p:spTree>
    <p:extLst>
      <p:ext uri="{BB962C8B-B14F-4D97-AF65-F5344CB8AC3E}">
        <p14:creationId xmlns:p14="http://schemas.microsoft.com/office/powerpoint/2010/main" val="2458146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29F2CC3-C67E-48F7-90C2-A4AA590700CF}" type="datetimeFigureOut">
              <a:rPr lang="en-IN" smtClean="0"/>
              <a:t>04-07-2026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573E0CB-6DBD-4B27-A26C-B2DEDD569D0C}" type="slidenum">
              <a:rPr lang="en-IN" smtClean="0"/>
              <a:t>‹#›</a:t>
            </a:fld>
            <a:endParaRPr lang="en-IN"/>
          </a:p>
        </p:txBody>
      </p:sp>
    </p:spTree>
    <p:extLst>
      <p:ext uri="{BB962C8B-B14F-4D97-AF65-F5344CB8AC3E}">
        <p14:creationId xmlns:p14="http://schemas.microsoft.com/office/powerpoint/2010/main" val="1394993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829F2CC3-C67E-48F7-90C2-A4AA590700CF}" type="datetimeFigureOut">
              <a:rPr lang="en-IN" smtClean="0"/>
              <a:t>04-07-2026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573E0CB-6DBD-4B27-A26C-B2DEDD569D0C}" type="slidenum">
              <a:rPr lang="en-IN" smtClean="0"/>
              <a:t>‹#›</a:t>
            </a:fld>
            <a:endParaRPr lang="en-IN"/>
          </a:p>
        </p:txBody>
      </p:sp>
    </p:spTree>
    <p:extLst>
      <p:ext uri="{BB962C8B-B14F-4D97-AF65-F5344CB8AC3E}">
        <p14:creationId xmlns:p14="http://schemas.microsoft.com/office/powerpoint/2010/main" val="871121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9F2CC3-C67E-48F7-90C2-A4AA590700CF}"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73E0CB-6DBD-4B27-A26C-B2DEDD569D0C}" type="slidenum">
              <a:rPr lang="en-IN" smtClean="0"/>
              <a:t>‹#›</a:t>
            </a:fld>
            <a:endParaRPr lang="en-IN"/>
          </a:p>
        </p:txBody>
      </p:sp>
    </p:spTree>
    <p:extLst>
      <p:ext uri="{BB962C8B-B14F-4D97-AF65-F5344CB8AC3E}">
        <p14:creationId xmlns:p14="http://schemas.microsoft.com/office/powerpoint/2010/main" val="4061915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9F2CC3-C67E-48F7-90C2-A4AA590700CF}"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73E0CB-6DBD-4B27-A26C-B2DEDD569D0C}" type="slidenum">
              <a:rPr lang="en-IN" smtClean="0"/>
              <a:t>‹#›</a:t>
            </a:fld>
            <a:endParaRPr lang="en-IN"/>
          </a:p>
        </p:txBody>
      </p:sp>
    </p:spTree>
    <p:extLst>
      <p:ext uri="{BB962C8B-B14F-4D97-AF65-F5344CB8AC3E}">
        <p14:creationId xmlns:p14="http://schemas.microsoft.com/office/powerpoint/2010/main" val="3178765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9F2CC3-C67E-48F7-90C2-A4AA590700CF}"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73E0CB-6DBD-4B27-A26C-B2DEDD569D0C}" type="slidenum">
              <a:rPr lang="en-IN" smtClean="0"/>
              <a:t>‹#›</a:t>
            </a:fld>
            <a:endParaRPr lang="en-IN"/>
          </a:p>
        </p:txBody>
      </p:sp>
    </p:spTree>
    <p:extLst>
      <p:ext uri="{BB962C8B-B14F-4D97-AF65-F5344CB8AC3E}">
        <p14:creationId xmlns:p14="http://schemas.microsoft.com/office/powerpoint/2010/main" val="2624728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9F2CC3-C67E-48F7-90C2-A4AA590700CF}"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73E0CB-6DBD-4B27-A26C-B2DEDD569D0C}" type="slidenum">
              <a:rPr lang="en-IN" smtClean="0"/>
              <a:t>‹#›</a:t>
            </a:fld>
            <a:endParaRPr lang="en-IN"/>
          </a:p>
        </p:txBody>
      </p:sp>
    </p:spTree>
    <p:extLst>
      <p:ext uri="{BB962C8B-B14F-4D97-AF65-F5344CB8AC3E}">
        <p14:creationId xmlns:p14="http://schemas.microsoft.com/office/powerpoint/2010/main" val="13341108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9F2CC3-C67E-48F7-90C2-A4AA590700CF}"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73E0CB-6DBD-4B27-A26C-B2DEDD569D0C}"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22701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9F2CC3-C67E-48F7-90C2-A4AA590700CF}"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73E0CB-6DBD-4B27-A26C-B2DEDD569D0C}" type="slidenum">
              <a:rPr lang="en-IN" smtClean="0"/>
              <a:t>‹#›</a:t>
            </a:fld>
            <a:endParaRPr lang="en-IN"/>
          </a:p>
        </p:txBody>
      </p:sp>
    </p:spTree>
    <p:extLst>
      <p:ext uri="{BB962C8B-B14F-4D97-AF65-F5344CB8AC3E}">
        <p14:creationId xmlns:p14="http://schemas.microsoft.com/office/powerpoint/2010/main" val="34585535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29F2CC3-C67E-48F7-90C2-A4AA590700CF}" type="datetimeFigureOut">
              <a:rPr lang="en-IN" smtClean="0"/>
              <a:t>04-07-2026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573E0CB-6DBD-4B27-A26C-B2DEDD569D0C}" type="slidenum">
              <a:rPr lang="en-IN" smtClean="0"/>
              <a:t>‹#›</a:t>
            </a:fld>
            <a:endParaRPr lang="en-IN"/>
          </a:p>
        </p:txBody>
      </p:sp>
    </p:spTree>
    <p:extLst>
      <p:ext uri="{BB962C8B-B14F-4D97-AF65-F5344CB8AC3E}">
        <p14:creationId xmlns:p14="http://schemas.microsoft.com/office/powerpoint/2010/main" val="16112746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29F2CC3-C67E-48F7-90C2-A4AA590700CF}" type="datetimeFigureOut">
              <a:rPr lang="en-IN" smtClean="0"/>
              <a:t>04-07-2026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573E0CB-6DBD-4B27-A26C-B2DEDD569D0C}" type="slidenum">
              <a:rPr lang="en-IN" smtClean="0"/>
              <a:t>‹#›</a:t>
            </a:fld>
            <a:endParaRPr lang="en-IN"/>
          </a:p>
        </p:txBody>
      </p:sp>
    </p:spTree>
    <p:extLst>
      <p:ext uri="{BB962C8B-B14F-4D97-AF65-F5344CB8AC3E}">
        <p14:creationId xmlns:p14="http://schemas.microsoft.com/office/powerpoint/2010/main" val="30025317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9F2CC3-C67E-48F7-90C2-A4AA590700CF}"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73E0CB-6DBD-4B27-A26C-B2DEDD569D0C}" type="slidenum">
              <a:rPr lang="en-IN" smtClean="0"/>
              <a:t>‹#›</a:t>
            </a:fld>
            <a:endParaRPr lang="en-IN"/>
          </a:p>
        </p:txBody>
      </p:sp>
    </p:spTree>
    <p:extLst>
      <p:ext uri="{BB962C8B-B14F-4D97-AF65-F5344CB8AC3E}">
        <p14:creationId xmlns:p14="http://schemas.microsoft.com/office/powerpoint/2010/main" val="1587057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9F2CC3-C67E-48F7-90C2-A4AA590700CF}"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73E0CB-6DBD-4B27-A26C-B2DEDD569D0C}" type="slidenum">
              <a:rPr lang="en-IN" smtClean="0"/>
              <a:t>‹#›</a:t>
            </a:fld>
            <a:endParaRPr lang="en-IN"/>
          </a:p>
        </p:txBody>
      </p:sp>
    </p:spTree>
    <p:extLst>
      <p:ext uri="{BB962C8B-B14F-4D97-AF65-F5344CB8AC3E}">
        <p14:creationId xmlns:p14="http://schemas.microsoft.com/office/powerpoint/2010/main" val="20471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829F2CC3-C67E-48F7-90C2-A4AA590700CF}" type="datetimeFigureOut">
              <a:rPr lang="en-IN" smtClean="0"/>
              <a:t>04-07-2026</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E573E0CB-6DBD-4B27-A26C-B2DEDD569D0C}" type="slidenum">
              <a:rPr lang="en-IN" smtClean="0"/>
              <a:t>‹#›</a:t>
            </a:fld>
            <a:endParaRPr lang="en-IN"/>
          </a:p>
        </p:txBody>
      </p:sp>
    </p:spTree>
    <p:extLst>
      <p:ext uri="{BB962C8B-B14F-4D97-AF65-F5344CB8AC3E}">
        <p14:creationId xmlns:p14="http://schemas.microsoft.com/office/powerpoint/2010/main" val="299860398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51F1F-6847-DA31-FE5B-BEBE2356939B}"/>
              </a:ext>
            </a:extLst>
          </p:cNvPr>
          <p:cNvSpPr>
            <a:spLocks noGrp="1"/>
          </p:cNvSpPr>
          <p:nvPr>
            <p:ph type="ctrTitle"/>
          </p:nvPr>
        </p:nvSpPr>
        <p:spPr>
          <a:xfrm>
            <a:off x="1751012" y="939567"/>
            <a:ext cx="8689976" cy="2032233"/>
          </a:xfrm>
        </p:spPr>
        <p:txBody>
          <a:bodyPr/>
          <a:lstStyle/>
          <a:p>
            <a:r>
              <a:rPr lang="en-US" sz="6000" b="1" dirty="0">
                <a:latin typeface="Bahnschrift SemiBold Condensed" panose="020B0502040204020203" pitchFamily="34" charset="0"/>
              </a:rPr>
              <a:t>ELECTRICITY CONSUMPTION ACROSS DIFFERENT CITIES</a:t>
            </a:r>
            <a:endParaRPr lang="en-IN" sz="6000" b="1" dirty="0">
              <a:latin typeface="Bahnschrift SemiBold Condensed" panose="020B0502040204020203" pitchFamily="34" charset="0"/>
            </a:endParaRPr>
          </a:p>
        </p:txBody>
      </p:sp>
      <p:sp>
        <p:nvSpPr>
          <p:cNvPr id="3" name="Subtitle 2">
            <a:extLst>
              <a:ext uri="{FF2B5EF4-FFF2-40B4-BE49-F238E27FC236}">
                <a16:creationId xmlns:a16="http://schemas.microsoft.com/office/drawing/2014/main" id="{921F1C06-911B-F40A-FE55-E9A451DC3763}"/>
              </a:ext>
            </a:extLst>
          </p:cNvPr>
          <p:cNvSpPr>
            <a:spLocks noGrp="1"/>
          </p:cNvSpPr>
          <p:nvPr>
            <p:ph type="subTitle" idx="1"/>
          </p:nvPr>
        </p:nvSpPr>
        <p:spPr>
          <a:xfrm>
            <a:off x="1751012" y="3489820"/>
            <a:ext cx="8689976" cy="2726422"/>
          </a:xfrm>
        </p:spPr>
        <p:txBody>
          <a:bodyPr>
            <a:noAutofit/>
          </a:bodyPr>
          <a:lstStyle/>
          <a:p>
            <a:pPr algn="l"/>
            <a:r>
              <a:rPr lang="en-US" sz="1600" dirty="0"/>
              <a:t>PREPARED BY:- </a:t>
            </a:r>
          </a:p>
          <a:p>
            <a:pPr marL="285750" indent="-285750" algn="l">
              <a:buFont typeface="Wingdings" panose="05000000000000000000" pitchFamily="2" charset="2"/>
              <a:buChar char="Ø"/>
            </a:pPr>
            <a:r>
              <a:rPr lang="en-US" sz="1600" dirty="0"/>
              <a:t>NAME:- PRAGATI AGGARWAL</a:t>
            </a:r>
          </a:p>
          <a:p>
            <a:pPr marL="285750" indent="-285750" algn="l">
              <a:buFont typeface="Wingdings" panose="05000000000000000000" pitchFamily="2" charset="2"/>
              <a:buChar char="Ø"/>
            </a:pPr>
            <a:r>
              <a:rPr lang="en-US" sz="1600" dirty="0"/>
              <a:t>ROLL NO. :- 2402009485/2423482</a:t>
            </a:r>
          </a:p>
          <a:p>
            <a:pPr marL="285750" indent="-285750" algn="l">
              <a:buFont typeface="Wingdings" panose="05000000000000000000" pitchFamily="2" charset="2"/>
              <a:buChar char="Ø"/>
            </a:pPr>
            <a:r>
              <a:rPr lang="en-US" sz="1600" dirty="0"/>
              <a:t>SUMMER TRAINING MAJOR PROJECT (DATA SCIENCE)</a:t>
            </a:r>
          </a:p>
          <a:p>
            <a:pPr marL="285750" indent="-285750" algn="l">
              <a:buFont typeface="Wingdings" panose="05000000000000000000" pitchFamily="2" charset="2"/>
              <a:buChar char="Ø"/>
            </a:pPr>
            <a:r>
              <a:rPr lang="en-US" sz="1600" dirty="0"/>
              <a:t>C.G.C. UNIVERSITY MOHALI</a:t>
            </a:r>
            <a:endParaRPr lang="en-IN" sz="1600" dirty="0"/>
          </a:p>
        </p:txBody>
      </p:sp>
    </p:spTree>
    <p:extLst>
      <p:ext uri="{BB962C8B-B14F-4D97-AF65-F5344CB8AC3E}">
        <p14:creationId xmlns:p14="http://schemas.microsoft.com/office/powerpoint/2010/main" val="4247362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2DBE2-B2D1-0213-EC05-4D398FC24573}"/>
              </a:ext>
            </a:extLst>
          </p:cNvPr>
          <p:cNvSpPr>
            <a:spLocks noGrp="1"/>
          </p:cNvSpPr>
          <p:nvPr>
            <p:ph type="title"/>
          </p:nvPr>
        </p:nvSpPr>
        <p:spPr>
          <a:xfrm>
            <a:off x="913775" y="310394"/>
            <a:ext cx="10364451" cy="1585518"/>
          </a:xfrm>
        </p:spPr>
        <p:txBody>
          <a:bodyPr>
            <a:normAutofit/>
          </a:bodyPr>
          <a:lstStyle/>
          <a:p>
            <a:r>
              <a:rPr lang="en-US" sz="6000" b="1" dirty="0">
                <a:latin typeface="Bahnschrift SemiBold Condensed" panose="020B0502040204020203" pitchFamily="34" charset="0"/>
              </a:rPr>
              <a:t>INTRODUCTION</a:t>
            </a:r>
            <a:endParaRPr lang="en-IN" sz="6000" b="1" dirty="0">
              <a:latin typeface="Bahnschrift SemiBold Condensed" panose="020B0502040204020203" pitchFamily="34" charset="0"/>
            </a:endParaRPr>
          </a:p>
        </p:txBody>
      </p:sp>
      <p:sp>
        <p:nvSpPr>
          <p:cNvPr id="3" name="Content Placeholder 2">
            <a:extLst>
              <a:ext uri="{FF2B5EF4-FFF2-40B4-BE49-F238E27FC236}">
                <a16:creationId xmlns:a16="http://schemas.microsoft.com/office/drawing/2014/main" id="{E1BC7E1C-DD45-4A89-C982-E06E23EB26EE}"/>
              </a:ext>
            </a:extLst>
          </p:cNvPr>
          <p:cNvSpPr>
            <a:spLocks noGrp="1"/>
          </p:cNvSpPr>
          <p:nvPr>
            <p:ph sz="quarter" idx="13"/>
          </p:nvPr>
        </p:nvSpPr>
        <p:spPr>
          <a:xfrm>
            <a:off x="913774" y="2088859"/>
            <a:ext cx="10363826" cy="3900880"/>
          </a:xfrm>
        </p:spPr>
        <p:txBody>
          <a:bodyPr/>
          <a:lstStyle/>
          <a:p>
            <a:pPr>
              <a:buFont typeface="Wingdings" panose="05000000000000000000" pitchFamily="2" charset="2"/>
              <a:buChar char="Ø"/>
            </a:pPr>
            <a:r>
              <a:rPr lang="en-US" dirty="0"/>
              <a:t>Electricity is one of the most important resources for economic growth and urban development.</a:t>
            </a:r>
          </a:p>
          <a:p>
            <a:pPr>
              <a:buFont typeface="Wingdings" panose="05000000000000000000" pitchFamily="2" charset="2"/>
              <a:buChar char="Ø"/>
            </a:pPr>
            <a:r>
              <a:rPr lang="en-US" dirty="0"/>
              <a:t>Electricity demand varies across cities due to differences in population, industrialization, climate, commercial activities, and seasonal changes. </a:t>
            </a:r>
          </a:p>
          <a:p>
            <a:pPr>
              <a:buFont typeface="Wingdings" panose="05000000000000000000" pitchFamily="2" charset="2"/>
              <a:buChar char="Ø"/>
            </a:pPr>
            <a:r>
              <a:rPr lang="en-US" dirty="0"/>
              <a:t>This project analyzes electricity consumption patterns across multiple Indian cities using data analytics and Power BI to identify trends, compare regions, and support better energy planning.</a:t>
            </a:r>
            <a:endParaRPr lang="en-IN" dirty="0"/>
          </a:p>
        </p:txBody>
      </p:sp>
    </p:spTree>
    <p:extLst>
      <p:ext uri="{BB962C8B-B14F-4D97-AF65-F5344CB8AC3E}">
        <p14:creationId xmlns:p14="http://schemas.microsoft.com/office/powerpoint/2010/main" val="429018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8B20A-B94C-431A-95D8-BC01FDBF2D4A}"/>
              </a:ext>
            </a:extLst>
          </p:cNvPr>
          <p:cNvSpPr>
            <a:spLocks noGrp="1"/>
          </p:cNvSpPr>
          <p:nvPr>
            <p:ph type="title"/>
          </p:nvPr>
        </p:nvSpPr>
        <p:spPr/>
        <p:txBody>
          <a:bodyPr/>
          <a:lstStyle/>
          <a:p>
            <a:r>
              <a:rPr lang="en-US" sz="6000" b="1" dirty="0">
                <a:latin typeface="Bahnschrift SemiBold Condensed" panose="020B0502040204020203" pitchFamily="34" charset="0"/>
              </a:rPr>
              <a:t>OBJECTIVES</a:t>
            </a:r>
            <a:endParaRPr lang="en-IN" sz="6000" b="1" dirty="0">
              <a:latin typeface="Bahnschrift SemiBold Condensed" panose="020B0502040204020203" pitchFamily="34" charset="0"/>
            </a:endParaRPr>
          </a:p>
        </p:txBody>
      </p:sp>
      <p:sp>
        <p:nvSpPr>
          <p:cNvPr id="3" name="Content Placeholder 2">
            <a:extLst>
              <a:ext uri="{FF2B5EF4-FFF2-40B4-BE49-F238E27FC236}">
                <a16:creationId xmlns:a16="http://schemas.microsoft.com/office/drawing/2014/main" id="{9CC25478-DA73-6D78-D776-0C9486DB4D51}"/>
              </a:ext>
            </a:extLst>
          </p:cNvPr>
          <p:cNvSpPr>
            <a:spLocks noGrp="1"/>
          </p:cNvSpPr>
          <p:nvPr>
            <p:ph sz="quarter" idx="13"/>
          </p:nvPr>
        </p:nvSpPr>
        <p:spPr/>
        <p:txBody>
          <a:bodyPr/>
          <a:lstStyle/>
          <a:p>
            <a:pPr>
              <a:buFont typeface="Wingdings" panose="05000000000000000000" pitchFamily="2" charset="2"/>
              <a:buChar char="Ø"/>
            </a:pPr>
            <a:r>
              <a:rPr lang="en-US" dirty="0"/>
              <a:t>Analyze electricity consumption across different cities.</a:t>
            </a:r>
          </a:p>
          <a:p>
            <a:pPr>
              <a:buFont typeface="Wingdings" panose="05000000000000000000" pitchFamily="2" charset="2"/>
              <a:buChar char="Ø"/>
            </a:pPr>
            <a:r>
              <a:rPr lang="en-US" dirty="0"/>
              <a:t>Compare residential, commercial, industrial, and agricultural consumption.</a:t>
            </a:r>
          </a:p>
          <a:p>
            <a:pPr>
              <a:buFont typeface="Wingdings" panose="05000000000000000000" pitchFamily="2" charset="2"/>
              <a:buChar char="Ø"/>
            </a:pPr>
            <a:r>
              <a:rPr lang="en-US" dirty="0"/>
              <a:t>Study seasonal and yearly electricity demand.</a:t>
            </a:r>
          </a:p>
          <a:p>
            <a:pPr>
              <a:buFont typeface="Wingdings" panose="05000000000000000000" pitchFamily="2" charset="2"/>
              <a:buChar char="Ø"/>
            </a:pPr>
            <a:r>
              <a:rPr lang="en-US" dirty="0"/>
              <a:t>Identify cities with maximum and minimum electricity usage.</a:t>
            </a:r>
          </a:p>
          <a:p>
            <a:pPr>
              <a:buFont typeface="Wingdings" panose="05000000000000000000" pitchFamily="2" charset="2"/>
              <a:buChar char="Ø"/>
            </a:pPr>
            <a:r>
              <a:rPr lang="en-US" dirty="0"/>
              <a:t>Analyze the impact of temperature and population on electricity consumption.</a:t>
            </a:r>
          </a:p>
          <a:p>
            <a:pPr>
              <a:buFont typeface="Wingdings" panose="05000000000000000000" pitchFamily="2" charset="2"/>
              <a:buChar char="Ø"/>
            </a:pPr>
            <a:r>
              <a:rPr lang="en-US" dirty="0"/>
              <a:t>Evaluate renewable energy contribution.</a:t>
            </a:r>
          </a:p>
          <a:p>
            <a:pPr>
              <a:buFont typeface="Wingdings" panose="05000000000000000000" pitchFamily="2" charset="2"/>
              <a:buChar char="Ø"/>
            </a:pPr>
            <a:r>
              <a:rPr lang="en-US" dirty="0"/>
              <a:t>Build an interactive Power BI dashboard for decision-making.</a:t>
            </a:r>
            <a:endParaRPr lang="en-IN" dirty="0"/>
          </a:p>
        </p:txBody>
      </p:sp>
    </p:spTree>
    <p:extLst>
      <p:ext uri="{BB962C8B-B14F-4D97-AF65-F5344CB8AC3E}">
        <p14:creationId xmlns:p14="http://schemas.microsoft.com/office/powerpoint/2010/main" val="2368652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17A7420-3BDC-1080-E987-CEC376D7877B}"/>
              </a:ext>
            </a:extLst>
          </p:cNvPr>
          <p:cNvSpPr>
            <a:spLocks noGrp="1"/>
          </p:cNvSpPr>
          <p:nvPr>
            <p:ph type="title"/>
          </p:nvPr>
        </p:nvSpPr>
        <p:spPr/>
        <p:txBody>
          <a:bodyPr/>
          <a:lstStyle/>
          <a:p>
            <a:r>
              <a:rPr lang="en-US" sz="6000" b="1" dirty="0">
                <a:latin typeface="Bahnschrift SemiBold Condensed" panose="020B0502040204020203" pitchFamily="34" charset="0"/>
              </a:rPr>
              <a:t>DATASET OVERVIEW</a:t>
            </a:r>
            <a:endParaRPr lang="en-IN" sz="6000" b="1" dirty="0">
              <a:latin typeface="Bahnschrift SemiBold Condensed" panose="020B0502040204020203" pitchFamily="34" charset="0"/>
            </a:endParaRPr>
          </a:p>
        </p:txBody>
      </p:sp>
      <p:graphicFrame>
        <p:nvGraphicFramePr>
          <p:cNvPr id="7" name="Content Placeholder 6">
            <a:extLst>
              <a:ext uri="{FF2B5EF4-FFF2-40B4-BE49-F238E27FC236}">
                <a16:creationId xmlns:a16="http://schemas.microsoft.com/office/drawing/2014/main" id="{95AB8ED3-172F-F320-1FBE-8AF1BCC31A26}"/>
              </a:ext>
            </a:extLst>
          </p:cNvPr>
          <p:cNvGraphicFramePr>
            <a:graphicFrameLocks noGrp="1"/>
          </p:cNvGraphicFramePr>
          <p:nvPr>
            <p:ph sz="quarter" idx="13"/>
            <p:extLst>
              <p:ext uri="{D42A27DB-BD31-4B8C-83A1-F6EECF244321}">
                <p14:modId xmlns:p14="http://schemas.microsoft.com/office/powerpoint/2010/main" val="971916194"/>
              </p:ext>
            </p:extLst>
          </p:nvPr>
        </p:nvGraphicFramePr>
        <p:xfrm>
          <a:off x="914400" y="2366963"/>
          <a:ext cx="10363200" cy="2966720"/>
        </p:xfrm>
        <a:graphic>
          <a:graphicData uri="http://schemas.openxmlformats.org/drawingml/2006/table">
            <a:tbl>
              <a:tblPr firstRow="1" bandRow="1">
                <a:tableStyleId>{93296810-A885-4BE3-A3E7-6D5BEEA58F35}</a:tableStyleId>
              </a:tblPr>
              <a:tblGrid>
                <a:gridCol w="5181600">
                  <a:extLst>
                    <a:ext uri="{9D8B030D-6E8A-4147-A177-3AD203B41FA5}">
                      <a16:colId xmlns:a16="http://schemas.microsoft.com/office/drawing/2014/main" val="1728380129"/>
                    </a:ext>
                  </a:extLst>
                </a:gridCol>
                <a:gridCol w="5181600">
                  <a:extLst>
                    <a:ext uri="{9D8B030D-6E8A-4147-A177-3AD203B41FA5}">
                      <a16:colId xmlns:a16="http://schemas.microsoft.com/office/drawing/2014/main" val="2744708813"/>
                    </a:ext>
                  </a:extLst>
                </a:gridCol>
              </a:tblGrid>
              <a:tr h="370840">
                <a:tc>
                  <a:txBody>
                    <a:bodyPr/>
                    <a:lstStyle/>
                    <a:p>
                      <a:r>
                        <a:rPr lang="en-US" dirty="0"/>
                        <a:t>FEATURE</a:t>
                      </a:r>
                      <a:endParaRPr lang="en-IN" dirty="0"/>
                    </a:p>
                  </a:txBody>
                  <a:tcPr/>
                </a:tc>
                <a:tc>
                  <a:txBody>
                    <a:bodyPr/>
                    <a:lstStyle/>
                    <a:p>
                      <a:r>
                        <a:rPr lang="en-US" dirty="0"/>
                        <a:t>DETAILS</a:t>
                      </a:r>
                      <a:endParaRPr lang="en-IN" dirty="0"/>
                    </a:p>
                  </a:txBody>
                  <a:tcPr/>
                </a:tc>
                <a:extLst>
                  <a:ext uri="{0D108BD9-81ED-4DB2-BD59-A6C34878D82A}">
                    <a16:rowId xmlns:a16="http://schemas.microsoft.com/office/drawing/2014/main" val="3071127099"/>
                  </a:ext>
                </a:extLst>
              </a:tr>
              <a:tr h="370840">
                <a:tc>
                  <a:txBody>
                    <a:bodyPr/>
                    <a:lstStyle/>
                    <a:p>
                      <a:r>
                        <a:rPr lang="en-US" dirty="0"/>
                        <a:t>DATASET SIZE</a:t>
                      </a:r>
                      <a:endParaRPr lang="en-IN" dirty="0"/>
                    </a:p>
                  </a:txBody>
                  <a:tcPr/>
                </a:tc>
                <a:tc>
                  <a:txBody>
                    <a:bodyPr/>
                    <a:lstStyle/>
                    <a:p>
                      <a:r>
                        <a:rPr lang="en-US" dirty="0"/>
                        <a:t>1200 RECORDS</a:t>
                      </a:r>
                      <a:endParaRPr lang="en-IN" dirty="0"/>
                    </a:p>
                  </a:txBody>
                  <a:tcPr/>
                </a:tc>
                <a:extLst>
                  <a:ext uri="{0D108BD9-81ED-4DB2-BD59-A6C34878D82A}">
                    <a16:rowId xmlns:a16="http://schemas.microsoft.com/office/drawing/2014/main" val="222659359"/>
                  </a:ext>
                </a:extLst>
              </a:tr>
              <a:tr h="370840">
                <a:tc>
                  <a:txBody>
                    <a:bodyPr/>
                    <a:lstStyle/>
                    <a:p>
                      <a:r>
                        <a:rPr lang="en-US" dirty="0"/>
                        <a:t>TOTAL COLUMNS</a:t>
                      </a:r>
                      <a:endParaRPr lang="en-IN" dirty="0"/>
                    </a:p>
                  </a:txBody>
                  <a:tcPr/>
                </a:tc>
                <a:tc>
                  <a:txBody>
                    <a:bodyPr/>
                    <a:lstStyle/>
                    <a:p>
                      <a:r>
                        <a:rPr lang="en-US" dirty="0"/>
                        <a:t>23</a:t>
                      </a:r>
                      <a:endParaRPr lang="en-IN" dirty="0"/>
                    </a:p>
                  </a:txBody>
                  <a:tcPr/>
                </a:tc>
                <a:extLst>
                  <a:ext uri="{0D108BD9-81ED-4DB2-BD59-A6C34878D82A}">
                    <a16:rowId xmlns:a16="http://schemas.microsoft.com/office/drawing/2014/main" val="180670952"/>
                  </a:ext>
                </a:extLst>
              </a:tr>
              <a:tr h="370840">
                <a:tc>
                  <a:txBody>
                    <a:bodyPr/>
                    <a:lstStyle/>
                    <a:p>
                      <a:r>
                        <a:rPr lang="en-US" dirty="0"/>
                        <a:t>CITIES COVERED</a:t>
                      </a:r>
                      <a:endParaRPr lang="en-IN" dirty="0"/>
                    </a:p>
                  </a:txBody>
                  <a:tcPr/>
                </a:tc>
                <a:tc>
                  <a:txBody>
                    <a:bodyPr/>
                    <a:lstStyle/>
                    <a:p>
                      <a:r>
                        <a:rPr lang="en-US" dirty="0"/>
                        <a:t>25</a:t>
                      </a:r>
                      <a:endParaRPr lang="en-IN" dirty="0"/>
                    </a:p>
                  </a:txBody>
                  <a:tcPr/>
                </a:tc>
                <a:extLst>
                  <a:ext uri="{0D108BD9-81ED-4DB2-BD59-A6C34878D82A}">
                    <a16:rowId xmlns:a16="http://schemas.microsoft.com/office/drawing/2014/main" val="2159669452"/>
                  </a:ext>
                </a:extLst>
              </a:tr>
              <a:tr h="370840">
                <a:tc>
                  <a:txBody>
                    <a:bodyPr/>
                    <a:lstStyle/>
                    <a:p>
                      <a:r>
                        <a:rPr lang="en-US" dirty="0"/>
                        <a:t>STATES COVERED</a:t>
                      </a:r>
                      <a:endParaRPr lang="en-IN" dirty="0"/>
                    </a:p>
                  </a:txBody>
                  <a:tcPr/>
                </a:tc>
                <a:tc>
                  <a:txBody>
                    <a:bodyPr/>
                    <a:lstStyle/>
                    <a:p>
                      <a:r>
                        <a:rPr lang="en-US" dirty="0"/>
                        <a:t>17</a:t>
                      </a:r>
                      <a:endParaRPr lang="en-IN" dirty="0"/>
                    </a:p>
                  </a:txBody>
                  <a:tcPr/>
                </a:tc>
                <a:extLst>
                  <a:ext uri="{0D108BD9-81ED-4DB2-BD59-A6C34878D82A}">
                    <a16:rowId xmlns:a16="http://schemas.microsoft.com/office/drawing/2014/main" val="1026634538"/>
                  </a:ext>
                </a:extLst>
              </a:tr>
              <a:tr h="370840">
                <a:tc>
                  <a:txBody>
                    <a:bodyPr/>
                    <a:lstStyle/>
                    <a:p>
                      <a:r>
                        <a:rPr lang="en-US" dirty="0"/>
                        <a:t>TIME PERIOD</a:t>
                      </a:r>
                      <a:endParaRPr lang="en-IN" dirty="0"/>
                    </a:p>
                  </a:txBody>
                  <a:tcPr/>
                </a:tc>
                <a:tc>
                  <a:txBody>
                    <a:bodyPr/>
                    <a:lstStyle/>
                    <a:p>
                      <a:r>
                        <a:rPr lang="en-US" dirty="0"/>
                        <a:t>2021-2024 (MONTHLY)</a:t>
                      </a:r>
                      <a:endParaRPr lang="en-IN" dirty="0"/>
                    </a:p>
                  </a:txBody>
                  <a:tcPr/>
                </a:tc>
                <a:extLst>
                  <a:ext uri="{0D108BD9-81ED-4DB2-BD59-A6C34878D82A}">
                    <a16:rowId xmlns:a16="http://schemas.microsoft.com/office/drawing/2014/main" val="2985378276"/>
                  </a:ext>
                </a:extLst>
              </a:tr>
              <a:tr h="370840">
                <a:tc>
                  <a:txBody>
                    <a:bodyPr/>
                    <a:lstStyle/>
                    <a:p>
                      <a:r>
                        <a:rPr lang="en-US" dirty="0"/>
                        <a:t>MISSING VALUES</a:t>
                      </a:r>
                      <a:endParaRPr lang="en-IN" dirty="0"/>
                    </a:p>
                  </a:txBody>
                  <a:tcPr/>
                </a:tc>
                <a:tc>
                  <a:txBody>
                    <a:bodyPr/>
                    <a:lstStyle/>
                    <a:p>
                      <a:r>
                        <a:rPr lang="en-US" dirty="0"/>
                        <a:t>NONE</a:t>
                      </a:r>
                      <a:endParaRPr lang="en-IN" dirty="0"/>
                    </a:p>
                  </a:txBody>
                  <a:tcPr/>
                </a:tc>
                <a:extLst>
                  <a:ext uri="{0D108BD9-81ED-4DB2-BD59-A6C34878D82A}">
                    <a16:rowId xmlns:a16="http://schemas.microsoft.com/office/drawing/2014/main" val="4246287148"/>
                  </a:ext>
                </a:extLst>
              </a:tr>
              <a:tr h="370840">
                <a:tc>
                  <a:txBody>
                    <a:bodyPr/>
                    <a:lstStyle/>
                    <a:p>
                      <a:r>
                        <a:rPr lang="en-US" dirty="0"/>
                        <a:t>DATA TYPE</a:t>
                      </a:r>
                      <a:endParaRPr lang="en-IN" dirty="0"/>
                    </a:p>
                  </a:txBody>
                  <a:tcPr/>
                </a:tc>
                <a:tc>
                  <a:txBody>
                    <a:bodyPr/>
                    <a:lstStyle/>
                    <a:p>
                      <a:r>
                        <a:rPr lang="en-US" dirty="0"/>
                        <a:t>STRUCTURED CSV / XLSX</a:t>
                      </a:r>
                      <a:endParaRPr lang="en-IN" dirty="0"/>
                    </a:p>
                  </a:txBody>
                  <a:tcPr/>
                </a:tc>
                <a:extLst>
                  <a:ext uri="{0D108BD9-81ED-4DB2-BD59-A6C34878D82A}">
                    <a16:rowId xmlns:a16="http://schemas.microsoft.com/office/drawing/2014/main" val="196660747"/>
                  </a:ext>
                </a:extLst>
              </a:tr>
            </a:tbl>
          </a:graphicData>
        </a:graphic>
      </p:graphicFrame>
    </p:spTree>
    <p:extLst>
      <p:ext uri="{BB962C8B-B14F-4D97-AF65-F5344CB8AC3E}">
        <p14:creationId xmlns:p14="http://schemas.microsoft.com/office/powerpoint/2010/main" val="2772607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9EA8F-F90C-D3D1-C68D-FFB111E0873C}"/>
              </a:ext>
            </a:extLst>
          </p:cNvPr>
          <p:cNvSpPr>
            <a:spLocks noGrp="1"/>
          </p:cNvSpPr>
          <p:nvPr>
            <p:ph type="title"/>
          </p:nvPr>
        </p:nvSpPr>
        <p:spPr>
          <a:xfrm>
            <a:off x="913775" y="243282"/>
            <a:ext cx="10364451" cy="796954"/>
          </a:xfrm>
        </p:spPr>
        <p:txBody>
          <a:bodyPr>
            <a:normAutofit/>
          </a:bodyPr>
          <a:lstStyle/>
          <a:p>
            <a:r>
              <a:rPr lang="en-US" sz="2400" b="1" dirty="0">
                <a:latin typeface="Bahnschrift SemiBold Condensed" panose="020B0502040204020203" pitchFamily="34" charset="0"/>
              </a:rPr>
              <a:t>IMPORTANT</a:t>
            </a:r>
            <a:r>
              <a:rPr lang="en-US" sz="2400" dirty="0"/>
              <a:t> </a:t>
            </a:r>
            <a:r>
              <a:rPr lang="en-US" sz="2400" b="1" dirty="0">
                <a:latin typeface="Bahnschrift SemiBold Condensed" panose="020B0502040204020203" pitchFamily="34" charset="0"/>
              </a:rPr>
              <a:t>COLUMNS</a:t>
            </a:r>
            <a:endParaRPr lang="en-IN" sz="2400" b="1" dirty="0">
              <a:latin typeface="Bahnschrift SemiBold Condensed" panose="020B0502040204020203" pitchFamily="34" charset="0"/>
            </a:endParaRPr>
          </a:p>
        </p:txBody>
      </p:sp>
      <p:sp>
        <p:nvSpPr>
          <p:cNvPr id="3" name="Content Placeholder 2">
            <a:extLst>
              <a:ext uri="{FF2B5EF4-FFF2-40B4-BE49-F238E27FC236}">
                <a16:creationId xmlns:a16="http://schemas.microsoft.com/office/drawing/2014/main" id="{9111C6A0-AE61-3965-748D-BD40133BD13B}"/>
              </a:ext>
            </a:extLst>
          </p:cNvPr>
          <p:cNvSpPr>
            <a:spLocks noGrp="1"/>
          </p:cNvSpPr>
          <p:nvPr>
            <p:ph sz="quarter" idx="13"/>
          </p:nvPr>
        </p:nvSpPr>
        <p:spPr>
          <a:xfrm>
            <a:off x="913774" y="1283516"/>
            <a:ext cx="10363826" cy="5226341"/>
          </a:xfrm>
        </p:spPr>
        <p:txBody>
          <a:bodyPr>
            <a:normAutofit fontScale="62500" lnSpcReduction="20000"/>
          </a:bodyPr>
          <a:lstStyle/>
          <a:p>
            <a:pPr>
              <a:buFont typeface="Wingdings" panose="05000000000000000000" pitchFamily="2" charset="2"/>
              <a:buChar char="Ø"/>
            </a:pPr>
            <a:r>
              <a:rPr lang="en-US" dirty="0"/>
              <a:t>City</a:t>
            </a:r>
          </a:p>
          <a:p>
            <a:pPr>
              <a:buFont typeface="Wingdings" panose="05000000000000000000" pitchFamily="2" charset="2"/>
              <a:buChar char="Ø"/>
            </a:pPr>
            <a:r>
              <a:rPr lang="en-US" dirty="0"/>
              <a:t>State                                                                                                                                                                                                                                                                               </a:t>
            </a:r>
          </a:p>
          <a:p>
            <a:pPr>
              <a:buFont typeface="Wingdings" panose="05000000000000000000" pitchFamily="2" charset="2"/>
              <a:buChar char="Ø"/>
            </a:pPr>
            <a:r>
              <a:rPr lang="en-US" dirty="0"/>
              <a:t>Region</a:t>
            </a:r>
          </a:p>
          <a:p>
            <a:pPr>
              <a:buFont typeface="Wingdings" panose="05000000000000000000" pitchFamily="2" charset="2"/>
              <a:buChar char="Ø"/>
            </a:pPr>
            <a:r>
              <a:rPr lang="en-US" dirty="0"/>
              <a:t>Population</a:t>
            </a:r>
          </a:p>
          <a:p>
            <a:pPr>
              <a:buFont typeface="Wingdings" panose="05000000000000000000" pitchFamily="2" charset="2"/>
              <a:buChar char="Ø"/>
            </a:pPr>
            <a:r>
              <a:rPr lang="en-US" dirty="0"/>
              <a:t>Season</a:t>
            </a:r>
          </a:p>
          <a:p>
            <a:pPr>
              <a:buFont typeface="Wingdings" panose="05000000000000000000" pitchFamily="2" charset="2"/>
              <a:buChar char="Ø"/>
            </a:pPr>
            <a:r>
              <a:rPr lang="en-US" dirty="0"/>
              <a:t>Average Temperature</a:t>
            </a:r>
          </a:p>
          <a:p>
            <a:pPr>
              <a:buFont typeface="Wingdings" panose="05000000000000000000" pitchFamily="2" charset="2"/>
              <a:buChar char="Ø"/>
            </a:pPr>
            <a:r>
              <a:rPr lang="en-US" dirty="0"/>
              <a:t>Residential Consumption</a:t>
            </a:r>
          </a:p>
          <a:p>
            <a:pPr>
              <a:buFont typeface="Wingdings" panose="05000000000000000000" pitchFamily="2" charset="2"/>
              <a:buChar char="Ø"/>
            </a:pPr>
            <a:r>
              <a:rPr lang="en-US" dirty="0"/>
              <a:t>Commercial Consumption</a:t>
            </a:r>
          </a:p>
          <a:p>
            <a:pPr>
              <a:buFont typeface="Wingdings" panose="05000000000000000000" pitchFamily="2" charset="2"/>
              <a:buChar char="Ø"/>
            </a:pPr>
            <a:r>
              <a:rPr lang="en-US" dirty="0"/>
              <a:t>Industrial Consumption</a:t>
            </a:r>
          </a:p>
          <a:p>
            <a:pPr>
              <a:buFont typeface="Wingdings" panose="05000000000000000000" pitchFamily="2" charset="2"/>
              <a:buChar char="Ø"/>
            </a:pPr>
            <a:r>
              <a:rPr lang="en-US" dirty="0"/>
              <a:t>Agricultural Consumption</a:t>
            </a:r>
          </a:p>
          <a:p>
            <a:pPr>
              <a:buFont typeface="Wingdings" panose="05000000000000000000" pitchFamily="2" charset="2"/>
              <a:buChar char="Ø"/>
            </a:pPr>
            <a:r>
              <a:rPr lang="en-US" dirty="0"/>
              <a:t>Total Consumption</a:t>
            </a:r>
          </a:p>
          <a:p>
            <a:pPr>
              <a:buFont typeface="Wingdings" panose="05000000000000000000" pitchFamily="2" charset="2"/>
              <a:buChar char="Ø"/>
            </a:pPr>
            <a:r>
              <a:rPr lang="en-US" dirty="0"/>
              <a:t>Peak Demand</a:t>
            </a:r>
          </a:p>
          <a:p>
            <a:pPr>
              <a:buFont typeface="Wingdings" panose="05000000000000000000" pitchFamily="2" charset="2"/>
              <a:buChar char="Ø"/>
            </a:pPr>
            <a:r>
              <a:rPr lang="en-US" dirty="0"/>
              <a:t>Tariff Rate</a:t>
            </a:r>
          </a:p>
          <a:p>
            <a:pPr>
              <a:buFont typeface="Wingdings" panose="05000000000000000000" pitchFamily="2" charset="2"/>
              <a:buChar char="Ø"/>
            </a:pPr>
            <a:r>
              <a:rPr lang="en-US" dirty="0"/>
              <a:t>Power Outage Hours</a:t>
            </a:r>
          </a:p>
          <a:p>
            <a:pPr>
              <a:buFont typeface="Wingdings" panose="05000000000000000000" pitchFamily="2" charset="2"/>
              <a:buChar char="Ø"/>
            </a:pPr>
            <a:r>
              <a:rPr lang="en-US" dirty="0"/>
              <a:t>Renewable Energy Share</a:t>
            </a:r>
          </a:p>
          <a:p>
            <a:pPr>
              <a:buFont typeface="Wingdings" panose="05000000000000000000" pitchFamily="2" charset="2"/>
              <a:buChar char="Ø"/>
            </a:pPr>
            <a:r>
              <a:rPr lang="en-US" dirty="0"/>
              <a:t>Electrification Rate</a:t>
            </a:r>
            <a:endParaRPr lang="en-IN" dirty="0"/>
          </a:p>
        </p:txBody>
      </p:sp>
    </p:spTree>
    <p:extLst>
      <p:ext uri="{BB962C8B-B14F-4D97-AF65-F5344CB8AC3E}">
        <p14:creationId xmlns:p14="http://schemas.microsoft.com/office/powerpoint/2010/main" val="1235424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CFDE0A-71A3-5E95-F8D7-A6641458B5F1}"/>
              </a:ext>
            </a:extLst>
          </p:cNvPr>
          <p:cNvSpPr>
            <a:spLocks noGrp="1"/>
          </p:cNvSpPr>
          <p:nvPr>
            <p:ph type="title"/>
          </p:nvPr>
        </p:nvSpPr>
        <p:spPr>
          <a:xfrm>
            <a:off x="1438842" y="265013"/>
            <a:ext cx="6836990" cy="1108824"/>
          </a:xfrm>
        </p:spPr>
        <p:txBody>
          <a:bodyPr/>
          <a:lstStyle/>
          <a:p>
            <a:r>
              <a:rPr lang="en-US" sz="6000" b="1" dirty="0">
                <a:latin typeface="Bahnschrift SemiBold Condensed" panose="020B0502040204020203" pitchFamily="34" charset="0"/>
              </a:rPr>
              <a:t>Data CLEANING</a:t>
            </a:r>
            <a:endParaRPr lang="en-IN" sz="6000" b="1" dirty="0">
              <a:latin typeface="Bahnschrift SemiBold Condensed" panose="020B0502040204020203" pitchFamily="34" charset="0"/>
            </a:endParaRPr>
          </a:p>
        </p:txBody>
      </p:sp>
      <p:pic>
        <p:nvPicPr>
          <p:cNvPr id="10" name="Content Placeholder 9">
            <a:extLst>
              <a:ext uri="{FF2B5EF4-FFF2-40B4-BE49-F238E27FC236}">
                <a16:creationId xmlns:a16="http://schemas.microsoft.com/office/drawing/2014/main" id="{2C268544-7FD0-549B-447E-296A0F7025DE}"/>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0" y="1523999"/>
            <a:ext cx="8727440" cy="5334001"/>
          </a:xfrm>
          <a:prstGeom prst="rect">
            <a:avLst/>
          </a:prstGeom>
        </p:spPr>
      </p:pic>
      <p:sp>
        <p:nvSpPr>
          <p:cNvPr id="6" name="Content Placeholder 5">
            <a:extLst>
              <a:ext uri="{FF2B5EF4-FFF2-40B4-BE49-F238E27FC236}">
                <a16:creationId xmlns:a16="http://schemas.microsoft.com/office/drawing/2014/main" id="{C7F8F6B7-9588-3047-6249-7CFF881C371D}"/>
              </a:ext>
            </a:extLst>
          </p:cNvPr>
          <p:cNvSpPr>
            <a:spLocks noGrp="1"/>
          </p:cNvSpPr>
          <p:nvPr>
            <p:ph sz="quarter" idx="14"/>
          </p:nvPr>
        </p:nvSpPr>
        <p:spPr>
          <a:xfrm>
            <a:off x="8881611" y="771786"/>
            <a:ext cx="3180080" cy="6113617"/>
          </a:xfrm>
        </p:spPr>
        <p:txBody>
          <a:bodyPr>
            <a:normAutofit/>
          </a:bodyPr>
          <a:lstStyle/>
          <a:p>
            <a:pPr marL="0" indent="0">
              <a:buNone/>
            </a:pPr>
            <a:r>
              <a:rPr lang="en-US" sz="1600" dirty="0"/>
              <a:t>Step 1 :- Removed the top 4 rows from the avg_total_consumption_MU.</a:t>
            </a:r>
          </a:p>
          <a:p>
            <a:pPr marL="0" indent="0">
              <a:buNone/>
            </a:pPr>
            <a:r>
              <a:rPr lang="en-US" sz="1600" dirty="0"/>
              <a:t>Step 2 :- Removed the column city tier.</a:t>
            </a:r>
          </a:p>
          <a:p>
            <a:pPr marL="0" indent="0">
              <a:buNone/>
            </a:pPr>
            <a:r>
              <a:rPr lang="en-US" sz="1600" dirty="0"/>
              <a:t>Step 3 :- Replace the value in state column from kerala to meghalaya. </a:t>
            </a:r>
          </a:p>
          <a:p>
            <a:pPr marL="0" indent="0">
              <a:buNone/>
            </a:pPr>
            <a:r>
              <a:rPr lang="en-US" sz="1600" dirty="0"/>
              <a:t>Step 4 :- removed error from city column. </a:t>
            </a:r>
          </a:p>
          <a:p>
            <a:pPr marL="0" indent="0">
              <a:buNone/>
            </a:pPr>
            <a:r>
              <a:rPr lang="en-US" sz="1600" dirty="0"/>
              <a:t>Step 5 :- change the datatype of column avg_per_capita_kwh from decimal number to percentage. </a:t>
            </a:r>
          </a:p>
          <a:p>
            <a:pPr marL="0" indent="0">
              <a:buNone/>
            </a:pPr>
            <a:r>
              <a:rPr lang="en-US" sz="1600" dirty="0"/>
              <a:t>Step 6 :- sort the data to ascending order in region column.</a:t>
            </a:r>
            <a:endParaRPr lang="en-IN" sz="1600" dirty="0"/>
          </a:p>
        </p:txBody>
      </p:sp>
      <p:sp>
        <p:nvSpPr>
          <p:cNvPr id="8" name="TextBox 7">
            <a:extLst>
              <a:ext uri="{FF2B5EF4-FFF2-40B4-BE49-F238E27FC236}">
                <a16:creationId xmlns:a16="http://schemas.microsoft.com/office/drawing/2014/main" id="{95CD972E-6C65-B3A2-38F8-AAC29B878470}"/>
              </a:ext>
            </a:extLst>
          </p:cNvPr>
          <p:cNvSpPr txBox="1"/>
          <p:nvPr/>
        </p:nvSpPr>
        <p:spPr>
          <a:xfrm>
            <a:off x="3047301" y="3246431"/>
            <a:ext cx="6094602" cy="369332"/>
          </a:xfrm>
          <a:prstGeom prst="rect">
            <a:avLst/>
          </a:prstGeom>
          <a:noFill/>
        </p:spPr>
        <p:txBody>
          <a:bodyPr wrap="square">
            <a:spAutoFit/>
          </a:bodyPr>
          <a:lstStyle/>
          <a:p>
            <a:endParaRPr lang="en-IN" dirty="0"/>
          </a:p>
        </p:txBody>
      </p:sp>
    </p:spTree>
    <p:extLst>
      <p:ext uri="{BB962C8B-B14F-4D97-AF65-F5344CB8AC3E}">
        <p14:creationId xmlns:p14="http://schemas.microsoft.com/office/powerpoint/2010/main" val="2855786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45710-7BFD-9CE2-4D1B-3B9D4E8134E1}"/>
              </a:ext>
            </a:extLst>
          </p:cNvPr>
          <p:cNvSpPr>
            <a:spLocks noGrp="1"/>
          </p:cNvSpPr>
          <p:nvPr>
            <p:ph type="title"/>
          </p:nvPr>
        </p:nvSpPr>
        <p:spPr>
          <a:xfrm>
            <a:off x="913775" y="293615"/>
            <a:ext cx="10364451" cy="1023457"/>
          </a:xfrm>
        </p:spPr>
        <p:txBody>
          <a:bodyPr/>
          <a:lstStyle/>
          <a:p>
            <a:r>
              <a:rPr lang="en-US" sz="6000" b="1" dirty="0">
                <a:latin typeface="Bahnschrift SemiBold Condensed" panose="020B0502040204020203" pitchFamily="34" charset="0"/>
              </a:rPr>
              <a:t>DASHBOARD QUESTION 1</a:t>
            </a:r>
            <a:endParaRPr lang="en-IN" sz="6000" b="1" dirty="0">
              <a:latin typeface="Bahnschrift SemiBold Condensed" panose="020B0502040204020203" pitchFamily="34" charset="0"/>
            </a:endParaRPr>
          </a:p>
        </p:txBody>
      </p:sp>
      <p:sp>
        <p:nvSpPr>
          <p:cNvPr id="5" name="Content Placeholder 4">
            <a:extLst>
              <a:ext uri="{FF2B5EF4-FFF2-40B4-BE49-F238E27FC236}">
                <a16:creationId xmlns:a16="http://schemas.microsoft.com/office/drawing/2014/main" id="{896182D3-5CE7-FFEE-017C-479CD23D0D8B}"/>
              </a:ext>
            </a:extLst>
          </p:cNvPr>
          <p:cNvSpPr>
            <a:spLocks noGrp="1"/>
          </p:cNvSpPr>
          <p:nvPr>
            <p:ph sz="quarter" idx="13"/>
          </p:nvPr>
        </p:nvSpPr>
        <p:spPr>
          <a:xfrm>
            <a:off x="184558" y="1417739"/>
            <a:ext cx="5142451" cy="5146644"/>
          </a:xfrm>
        </p:spPr>
        <p:txBody>
          <a:bodyPr>
            <a:normAutofit fontScale="92500"/>
          </a:bodyPr>
          <a:lstStyle/>
          <a:p>
            <a:pPr>
              <a:buFont typeface="Wingdings" panose="05000000000000000000" pitchFamily="2" charset="2"/>
              <a:buChar char="Ø"/>
            </a:pPr>
            <a:r>
              <a:rPr lang="en-US" dirty="0"/>
              <a:t>THIS QUESTION REPRESENTS WHICH CITIES AND REGIONS CONSUME THE MOST ELECTRICITY OVERALL.</a:t>
            </a:r>
          </a:p>
          <a:p>
            <a:pPr>
              <a:buFont typeface="Wingdings" panose="05000000000000000000" pitchFamily="2" charset="2"/>
              <a:buChar char="Ø"/>
            </a:pPr>
            <a:r>
              <a:rPr lang="en-US" dirty="0"/>
              <a:t>Mumbai has the highest electricity consumption with 273,067 MU.</a:t>
            </a:r>
          </a:p>
          <a:p>
            <a:pPr>
              <a:buFont typeface="Wingdings" panose="05000000000000000000" pitchFamily="2" charset="2"/>
              <a:buChar char="Ø"/>
            </a:pPr>
            <a:r>
              <a:rPr lang="en-US" dirty="0"/>
              <a:t>Delhi ranks second with 232,987 MU.</a:t>
            </a:r>
          </a:p>
          <a:p>
            <a:pPr>
              <a:buFont typeface="Wingdings" panose="05000000000000000000" pitchFamily="2" charset="2"/>
              <a:buChar char="Ø"/>
            </a:pPr>
            <a:r>
              <a:rPr lang="en-US" dirty="0"/>
              <a:t>Bangalore, Chennai, and Hyderabad also consume large amounts of electricity.</a:t>
            </a:r>
          </a:p>
          <a:p>
            <a:pPr>
              <a:buFont typeface="Wingdings" panose="05000000000000000000" pitchFamily="2" charset="2"/>
              <a:buChar char="Ø"/>
            </a:pPr>
            <a:r>
              <a:rPr lang="en-US" dirty="0"/>
              <a:t>The West and South regions show the highest electricity consumption due to higher population, industrial activities, and commercial development.</a:t>
            </a:r>
          </a:p>
          <a:p>
            <a:pPr>
              <a:buFont typeface="Wingdings" panose="05000000000000000000" pitchFamily="2" charset="2"/>
              <a:buChar char="Ø"/>
            </a:pPr>
            <a:endParaRPr lang="en-US" dirty="0"/>
          </a:p>
        </p:txBody>
      </p:sp>
      <p:pic>
        <p:nvPicPr>
          <p:cNvPr id="8" name="Content Placeholder 7">
            <a:extLst>
              <a:ext uri="{FF2B5EF4-FFF2-40B4-BE49-F238E27FC236}">
                <a16:creationId xmlns:a16="http://schemas.microsoft.com/office/drawing/2014/main" id="{78C57786-25D5-049C-057C-B69C93AD5872}"/>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5394122" y="1317071"/>
            <a:ext cx="6613320" cy="5247313"/>
          </a:xfrm>
          <a:prstGeom prst="rect">
            <a:avLst/>
          </a:prstGeom>
        </p:spPr>
      </p:pic>
    </p:spTree>
    <p:extLst>
      <p:ext uri="{BB962C8B-B14F-4D97-AF65-F5344CB8AC3E}">
        <p14:creationId xmlns:p14="http://schemas.microsoft.com/office/powerpoint/2010/main" val="2359091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CFBE5-6593-D17E-1881-3083BC25929C}"/>
              </a:ext>
            </a:extLst>
          </p:cNvPr>
          <p:cNvSpPr>
            <a:spLocks noGrp="1"/>
          </p:cNvSpPr>
          <p:nvPr>
            <p:ph type="title"/>
          </p:nvPr>
        </p:nvSpPr>
        <p:spPr>
          <a:xfrm>
            <a:off x="913775" y="151003"/>
            <a:ext cx="10363825" cy="1193228"/>
          </a:xfrm>
        </p:spPr>
        <p:txBody>
          <a:bodyPr/>
          <a:lstStyle/>
          <a:p>
            <a:r>
              <a:rPr lang="en-US" sz="6000" b="1" dirty="0">
                <a:latin typeface="Bahnschrift SemiBold Condensed" panose="020B0502040204020203" pitchFamily="34" charset="0"/>
              </a:rPr>
              <a:t>Dashboard question 2</a:t>
            </a:r>
            <a:endParaRPr lang="en-IN" sz="6000" b="1" dirty="0">
              <a:latin typeface="Bahnschrift SemiBold Condensed" panose="020B0502040204020203" pitchFamily="34" charset="0"/>
            </a:endParaRPr>
          </a:p>
        </p:txBody>
      </p:sp>
      <p:sp>
        <p:nvSpPr>
          <p:cNvPr id="3" name="Content Placeholder 2">
            <a:extLst>
              <a:ext uri="{FF2B5EF4-FFF2-40B4-BE49-F238E27FC236}">
                <a16:creationId xmlns:a16="http://schemas.microsoft.com/office/drawing/2014/main" id="{7F61F5C6-355F-1BD0-B3A7-628F2B59BE81}"/>
              </a:ext>
            </a:extLst>
          </p:cNvPr>
          <p:cNvSpPr>
            <a:spLocks noGrp="1"/>
          </p:cNvSpPr>
          <p:nvPr>
            <p:ph sz="quarter" idx="13"/>
          </p:nvPr>
        </p:nvSpPr>
        <p:spPr>
          <a:xfrm>
            <a:off x="318782" y="1593908"/>
            <a:ext cx="4798502" cy="5050172"/>
          </a:xfrm>
        </p:spPr>
        <p:txBody>
          <a:bodyPr>
            <a:normAutofit fontScale="92500" lnSpcReduction="10000"/>
          </a:bodyPr>
          <a:lstStyle/>
          <a:p>
            <a:pPr>
              <a:buFont typeface="Wingdings" panose="05000000000000000000" pitchFamily="2" charset="2"/>
              <a:buChar char="Ø"/>
            </a:pPr>
            <a:r>
              <a:rPr lang="en-US" dirty="0"/>
              <a:t>This question represents the relationship between temperature and electricity consumption.</a:t>
            </a:r>
          </a:p>
          <a:p>
            <a:pPr>
              <a:buFont typeface="Wingdings" panose="05000000000000000000" pitchFamily="2" charset="2"/>
              <a:buChar char="Ø"/>
            </a:pPr>
            <a:r>
              <a:rPr lang="en-US" dirty="0"/>
              <a:t>The analysis shows that electricity consumption generally increases as temperature rises, indicating that higher temperatures are associated with greater electricity demand.</a:t>
            </a:r>
          </a:p>
          <a:p>
            <a:pPr>
              <a:buFont typeface="Wingdings" panose="05000000000000000000" pitchFamily="2" charset="2"/>
              <a:buChar char="Ø"/>
            </a:pPr>
            <a:r>
              <a:rPr lang="en-US" dirty="0"/>
              <a:t>As temperature increases, electricity consumption also increases.</a:t>
            </a:r>
          </a:p>
          <a:p>
            <a:pPr>
              <a:buFont typeface="Wingdings" panose="05000000000000000000" pitchFamily="2" charset="2"/>
              <a:buChar char="Ø"/>
            </a:pPr>
            <a:r>
              <a:rPr lang="en-US" dirty="0"/>
              <a:t>The relationship is stronger for per-capita consumption than for total consumption because population size also influences total demand.</a:t>
            </a:r>
            <a:endParaRPr lang="en-IN" dirty="0"/>
          </a:p>
        </p:txBody>
      </p:sp>
      <p:pic>
        <p:nvPicPr>
          <p:cNvPr id="6" name="Content Placeholder 5">
            <a:extLst>
              <a:ext uri="{FF2B5EF4-FFF2-40B4-BE49-F238E27FC236}">
                <a16:creationId xmlns:a16="http://schemas.microsoft.com/office/drawing/2014/main" id="{51B38B29-3BAC-2EC5-42FF-6616E03F3351}"/>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5469623" y="1157681"/>
            <a:ext cx="6627302" cy="5629013"/>
          </a:xfrm>
          <a:prstGeom prst="rect">
            <a:avLst/>
          </a:prstGeom>
        </p:spPr>
      </p:pic>
    </p:spTree>
    <p:extLst>
      <p:ext uri="{BB962C8B-B14F-4D97-AF65-F5344CB8AC3E}">
        <p14:creationId xmlns:p14="http://schemas.microsoft.com/office/powerpoint/2010/main" val="1441103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5E70C-8E5C-F1CC-207F-9A9ABDE8DB67}"/>
              </a:ext>
            </a:extLst>
          </p:cNvPr>
          <p:cNvSpPr>
            <a:spLocks noGrp="1"/>
          </p:cNvSpPr>
          <p:nvPr>
            <p:ph type="title"/>
          </p:nvPr>
        </p:nvSpPr>
        <p:spPr>
          <a:xfrm>
            <a:off x="913775" y="92280"/>
            <a:ext cx="10364451" cy="1098958"/>
          </a:xfrm>
        </p:spPr>
        <p:txBody>
          <a:bodyPr/>
          <a:lstStyle/>
          <a:p>
            <a:r>
              <a:rPr lang="en-US" sz="6000" b="1" dirty="0">
                <a:latin typeface="Bahnschrift SemiBold Condensed" panose="020B0502040204020203" pitchFamily="34" charset="0"/>
              </a:rPr>
              <a:t>Dashboard question 3</a:t>
            </a:r>
            <a:endParaRPr lang="en-IN" sz="6000" b="1" dirty="0">
              <a:latin typeface="Bahnschrift SemiBold Condensed" panose="020B0502040204020203" pitchFamily="34" charset="0"/>
            </a:endParaRPr>
          </a:p>
        </p:txBody>
      </p:sp>
      <p:sp>
        <p:nvSpPr>
          <p:cNvPr id="3" name="Content Placeholder 2">
            <a:extLst>
              <a:ext uri="{FF2B5EF4-FFF2-40B4-BE49-F238E27FC236}">
                <a16:creationId xmlns:a16="http://schemas.microsoft.com/office/drawing/2014/main" id="{A0F3DC52-7907-8356-7A9A-A30A1B62AEBF}"/>
              </a:ext>
            </a:extLst>
          </p:cNvPr>
          <p:cNvSpPr>
            <a:spLocks noGrp="1"/>
          </p:cNvSpPr>
          <p:nvPr>
            <p:ph sz="quarter" idx="13"/>
          </p:nvPr>
        </p:nvSpPr>
        <p:spPr>
          <a:xfrm>
            <a:off x="738230" y="1279323"/>
            <a:ext cx="4798503" cy="5247312"/>
          </a:xfrm>
        </p:spPr>
        <p:txBody>
          <a:bodyPr>
            <a:normAutofit/>
          </a:bodyPr>
          <a:lstStyle/>
          <a:p>
            <a:pPr>
              <a:buFont typeface="Wingdings" panose="05000000000000000000" pitchFamily="2" charset="2"/>
              <a:buChar char="Ø"/>
            </a:pPr>
            <a:r>
              <a:rPr lang="en-US" dirty="0"/>
              <a:t>This question represents how does per capita consumption differ between tier-1 and tier-2.</a:t>
            </a:r>
          </a:p>
          <a:p>
            <a:pPr>
              <a:buFont typeface="Wingdings" panose="05000000000000000000" pitchFamily="2" charset="2"/>
              <a:buChar char="Ø"/>
            </a:pPr>
            <a:r>
              <a:rPr lang="en-US" dirty="0"/>
              <a:t>Tier-1 cities are larger metropolitan areas with greater industrial and commercial activities, while Tier-2 cities are smaller developing cities.</a:t>
            </a:r>
          </a:p>
          <a:p>
            <a:pPr>
              <a:buFont typeface="Wingdings" panose="05000000000000000000" pitchFamily="2" charset="2"/>
              <a:buChar char="Ø"/>
            </a:pPr>
            <a:r>
              <a:rPr lang="en-US" dirty="0"/>
              <a:t>Tier-1 cities have significantly higher per-capita electricity consumption than Tier-2 cities due to greater urbanization, commercial activity, and industrial development.</a:t>
            </a:r>
            <a:endParaRPr lang="en-IN" dirty="0"/>
          </a:p>
        </p:txBody>
      </p:sp>
      <p:pic>
        <p:nvPicPr>
          <p:cNvPr id="6" name="Content Placeholder 5">
            <a:extLst>
              <a:ext uri="{FF2B5EF4-FFF2-40B4-BE49-F238E27FC236}">
                <a16:creationId xmlns:a16="http://schemas.microsoft.com/office/drawing/2014/main" id="{8EA3B070-85CB-7BC2-5DFB-0A88435572ED}"/>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5981350" y="1518406"/>
            <a:ext cx="6090408" cy="5247313"/>
          </a:xfrm>
          <a:prstGeom prst="rect">
            <a:avLst/>
          </a:prstGeom>
        </p:spPr>
      </p:pic>
    </p:spTree>
    <p:extLst>
      <p:ext uri="{BB962C8B-B14F-4D97-AF65-F5344CB8AC3E}">
        <p14:creationId xmlns:p14="http://schemas.microsoft.com/office/powerpoint/2010/main" val="193853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8E6B4-CB52-761B-3CED-9FB161CCEAF1}"/>
              </a:ext>
            </a:extLst>
          </p:cNvPr>
          <p:cNvSpPr>
            <a:spLocks noGrp="1"/>
          </p:cNvSpPr>
          <p:nvPr>
            <p:ph type="title"/>
          </p:nvPr>
        </p:nvSpPr>
        <p:spPr>
          <a:xfrm>
            <a:off x="913775" y="188753"/>
            <a:ext cx="10364451" cy="1220597"/>
          </a:xfrm>
        </p:spPr>
        <p:txBody>
          <a:bodyPr/>
          <a:lstStyle/>
          <a:p>
            <a:r>
              <a:rPr lang="en-US" sz="6000" b="1" dirty="0">
                <a:latin typeface="Bahnschrift SemiBold Condensed" panose="020B0502040204020203" pitchFamily="34" charset="0"/>
              </a:rPr>
              <a:t>Dashboard question 4</a:t>
            </a:r>
            <a:endParaRPr lang="en-IN" sz="6000" b="1" dirty="0">
              <a:latin typeface="Bahnschrift SemiBold Condensed" panose="020B0502040204020203" pitchFamily="34" charset="0"/>
            </a:endParaRPr>
          </a:p>
        </p:txBody>
      </p:sp>
      <p:sp>
        <p:nvSpPr>
          <p:cNvPr id="3" name="Content Placeholder 2">
            <a:extLst>
              <a:ext uri="{FF2B5EF4-FFF2-40B4-BE49-F238E27FC236}">
                <a16:creationId xmlns:a16="http://schemas.microsoft.com/office/drawing/2014/main" id="{866D5EB4-B41C-F7D8-3F99-4FE9BCD33425}"/>
              </a:ext>
            </a:extLst>
          </p:cNvPr>
          <p:cNvSpPr>
            <a:spLocks noGrp="1"/>
          </p:cNvSpPr>
          <p:nvPr>
            <p:ph sz="quarter" idx="13"/>
          </p:nvPr>
        </p:nvSpPr>
        <p:spPr>
          <a:xfrm>
            <a:off x="679508" y="1409350"/>
            <a:ext cx="4395831" cy="5184397"/>
          </a:xfrm>
        </p:spPr>
        <p:txBody>
          <a:bodyPr>
            <a:normAutofit lnSpcReduction="10000"/>
          </a:bodyPr>
          <a:lstStyle/>
          <a:p>
            <a:pPr>
              <a:buFont typeface="Wingdings" panose="05000000000000000000" pitchFamily="2" charset="2"/>
              <a:buChar char="Ø"/>
            </a:pPr>
            <a:r>
              <a:rPr lang="en-US" dirty="0"/>
              <a:t>This question represents how the share of renewable energy evolved from 2021-2024.</a:t>
            </a:r>
          </a:p>
          <a:p>
            <a:pPr>
              <a:buFont typeface="Wingdings" panose="05000000000000000000" pitchFamily="2" charset="2"/>
              <a:buChar char="Ø"/>
            </a:pPr>
            <a:r>
              <a:rPr lang="en-US" dirty="0"/>
              <a:t>Renewable energy reduces pollution and dependence on fossil fuels. This analysis tracks the increase in renewable energy share over four years.</a:t>
            </a:r>
          </a:p>
          <a:p>
            <a:pPr>
              <a:buFont typeface="Wingdings" panose="05000000000000000000" pitchFamily="2" charset="2"/>
              <a:buChar char="Ø"/>
            </a:pPr>
            <a:r>
              <a:rPr lang="en-US" dirty="0"/>
              <a:t>Renewable energy share shows a steady increase from 2021 to 2024.</a:t>
            </a:r>
          </a:p>
          <a:p>
            <a:pPr>
              <a:buFont typeface="Wingdings" panose="05000000000000000000" pitchFamily="2" charset="2"/>
              <a:buChar char="Ø"/>
            </a:pPr>
            <a:r>
              <a:rPr lang="en-US" dirty="0"/>
              <a:t>The West and South regions have the highest renewable energy share.</a:t>
            </a:r>
            <a:endParaRPr lang="en-IN" dirty="0"/>
          </a:p>
        </p:txBody>
      </p:sp>
      <p:pic>
        <p:nvPicPr>
          <p:cNvPr id="6" name="Content Placeholder 5">
            <a:extLst>
              <a:ext uri="{FF2B5EF4-FFF2-40B4-BE49-F238E27FC236}">
                <a16:creationId xmlns:a16="http://schemas.microsoft.com/office/drawing/2014/main" id="{0D9FFE08-7813-10AB-6B38-4DB7F705D1ED}"/>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5360565" y="1409351"/>
            <a:ext cx="6543413" cy="5259898"/>
          </a:xfrm>
          <a:prstGeom prst="rect">
            <a:avLst/>
          </a:prstGeom>
        </p:spPr>
      </p:pic>
    </p:spTree>
    <p:extLst>
      <p:ext uri="{BB962C8B-B14F-4D97-AF65-F5344CB8AC3E}">
        <p14:creationId xmlns:p14="http://schemas.microsoft.com/office/powerpoint/2010/main" val="2907037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E02A4-E90B-E12C-4FEA-F8D4325D4D6E}"/>
              </a:ext>
            </a:extLst>
          </p:cNvPr>
          <p:cNvSpPr>
            <a:spLocks noGrp="1"/>
          </p:cNvSpPr>
          <p:nvPr>
            <p:ph type="title"/>
          </p:nvPr>
        </p:nvSpPr>
        <p:spPr>
          <a:xfrm>
            <a:off x="913775" y="134225"/>
            <a:ext cx="10364451" cy="1124124"/>
          </a:xfrm>
        </p:spPr>
        <p:txBody>
          <a:bodyPr/>
          <a:lstStyle/>
          <a:p>
            <a:r>
              <a:rPr lang="en-US" sz="6000" b="1" dirty="0">
                <a:latin typeface="Bahnschrift SemiBold Condensed" panose="020B0502040204020203" pitchFamily="34" charset="0"/>
              </a:rPr>
              <a:t>Dashboard question 5</a:t>
            </a:r>
            <a:endParaRPr lang="en-IN" sz="6000" b="1" dirty="0">
              <a:latin typeface="Bahnschrift SemiBold Condensed" panose="020B0502040204020203" pitchFamily="34" charset="0"/>
            </a:endParaRPr>
          </a:p>
        </p:txBody>
      </p:sp>
      <p:sp>
        <p:nvSpPr>
          <p:cNvPr id="3" name="Content Placeholder 2">
            <a:extLst>
              <a:ext uri="{FF2B5EF4-FFF2-40B4-BE49-F238E27FC236}">
                <a16:creationId xmlns:a16="http://schemas.microsoft.com/office/drawing/2014/main" id="{EBB490E8-305B-5CA1-1632-24D35F1FDD93}"/>
              </a:ext>
            </a:extLst>
          </p:cNvPr>
          <p:cNvSpPr>
            <a:spLocks noGrp="1"/>
          </p:cNvSpPr>
          <p:nvPr>
            <p:ph sz="quarter" idx="13"/>
          </p:nvPr>
        </p:nvSpPr>
        <p:spPr>
          <a:xfrm>
            <a:off x="436228" y="1333850"/>
            <a:ext cx="4530055" cy="5322813"/>
          </a:xfrm>
        </p:spPr>
        <p:txBody>
          <a:bodyPr>
            <a:normAutofit fontScale="92500" lnSpcReduction="20000"/>
          </a:bodyPr>
          <a:lstStyle/>
          <a:p>
            <a:pPr>
              <a:buFont typeface="Wingdings" panose="05000000000000000000" pitchFamily="2" charset="2"/>
              <a:buChar char="Ø"/>
            </a:pPr>
            <a:r>
              <a:rPr lang="en-US" dirty="0"/>
              <a:t>This question represents the cities facing both high tariffs and high outage hours.</a:t>
            </a:r>
          </a:p>
          <a:p>
            <a:pPr>
              <a:buFont typeface="Wingdings" panose="05000000000000000000" pitchFamily="2" charset="2"/>
              <a:buChar char="Ø"/>
            </a:pPr>
            <a:r>
              <a:rPr lang="en-US" dirty="0"/>
              <a:t>Cities with higher tariffs generally experience fewer power outages, indicating better service reliability.</a:t>
            </a:r>
          </a:p>
          <a:p>
            <a:pPr>
              <a:buFont typeface="Wingdings" panose="05000000000000000000" pitchFamily="2" charset="2"/>
              <a:buChar char="Ø"/>
            </a:pPr>
            <a:r>
              <a:rPr lang="en-US" dirty="0"/>
              <a:t>Cities with higher outage hours tend to have moderate or lower tariff rates.</a:t>
            </a:r>
          </a:p>
          <a:p>
            <a:pPr>
              <a:buFont typeface="Wingdings" panose="05000000000000000000" pitchFamily="2" charset="2"/>
              <a:buChar char="Ø"/>
            </a:pPr>
            <a:r>
              <a:rPr lang="en-US" dirty="0"/>
              <a:t>No city in the dataset shows both extremely high tariffs and extremely high outage hours.</a:t>
            </a:r>
          </a:p>
          <a:p>
            <a:pPr>
              <a:buFont typeface="Wingdings" panose="05000000000000000000" pitchFamily="2" charset="2"/>
              <a:buChar char="Ø"/>
            </a:pPr>
            <a:r>
              <a:rPr lang="en-US" dirty="0"/>
              <a:t>This suggests that higher electricity tariffs are generally associated with a more reliable power supply.</a:t>
            </a:r>
          </a:p>
        </p:txBody>
      </p:sp>
      <p:pic>
        <p:nvPicPr>
          <p:cNvPr id="6" name="Content Placeholder 5">
            <a:extLst>
              <a:ext uri="{FF2B5EF4-FFF2-40B4-BE49-F238E27FC236}">
                <a16:creationId xmlns:a16="http://schemas.microsoft.com/office/drawing/2014/main" id="{77DFF34D-E42D-E723-D0F8-24C07C1D1563}"/>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5612235" y="1098959"/>
            <a:ext cx="6366545" cy="5557704"/>
          </a:xfrm>
          <a:prstGeom prst="rect">
            <a:avLst/>
          </a:prstGeom>
        </p:spPr>
      </p:pic>
    </p:spTree>
    <p:extLst>
      <p:ext uri="{BB962C8B-B14F-4D97-AF65-F5344CB8AC3E}">
        <p14:creationId xmlns:p14="http://schemas.microsoft.com/office/powerpoint/2010/main" val="3292948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BE0D8-309D-3680-BDDC-76F71B8D181F}"/>
              </a:ext>
            </a:extLst>
          </p:cNvPr>
          <p:cNvSpPr>
            <a:spLocks noGrp="1"/>
          </p:cNvSpPr>
          <p:nvPr>
            <p:ph type="title"/>
          </p:nvPr>
        </p:nvSpPr>
        <p:spPr>
          <a:xfrm>
            <a:off x="913775" y="167781"/>
            <a:ext cx="10364451" cy="1333848"/>
          </a:xfrm>
        </p:spPr>
        <p:txBody>
          <a:bodyPr/>
          <a:lstStyle/>
          <a:p>
            <a:r>
              <a:rPr lang="en-US" sz="6000" b="1" dirty="0">
                <a:latin typeface="Bahnschrift SemiBold Condensed" panose="020B0502040204020203" pitchFamily="34" charset="0"/>
              </a:rPr>
              <a:t>Key insights</a:t>
            </a:r>
            <a:endParaRPr lang="en-IN" sz="6000" b="1" dirty="0">
              <a:latin typeface="Bahnschrift SemiBold Condensed" panose="020B0502040204020203" pitchFamily="34" charset="0"/>
            </a:endParaRPr>
          </a:p>
        </p:txBody>
      </p:sp>
      <p:sp>
        <p:nvSpPr>
          <p:cNvPr id="3" name="Content Placeholder 2">
            <a:extLst>
              <a:ext uri="{FF2B5EF4-FFF2-40B4-BE49-F238E27FC236}">
                <a16:creationId xmlns:a16="http://schemas.microsoft.com/office/drawing/2014/main" id="{1ADBEC99-EC8F-BDDC-6EEE-D6F0C7956E8A}"/>
              </a:ext>
            </a:extLst>
          </p:cNvPr>
          <p:cNvSpPr>
            <a:spLocks noGrp="1"/>
          </p:cNvSpPr>
          <p:nvPr>
            <p:ph sz="quarter" idx="13"/>
          </p:nvPr>
        </p:nvSpPr>
        <p:spPr>
          <a:xfrm>
            <a:off x="913774" y="1694576"/>
            <a:ext cx="10363826" cy="4739780"/>
          </a:xfrm>
        </p:spPr>
        <p:txBody>
          <a:bodyPr>
            <a:normAutofit fontScale="85000" lnSpcReduction="20000"/>
          </a:bodyPr>
          <a:lstStyle/>
          <a:p>
            <a:pPr>
              <a:buFont typeface="Wingdings" panose="05000000000000000000" pitchFamily="2" charset="2"/>
              <a:buChar char="Ø"/>
            </a:pPr>
            <a:r>
              <a:rPr lang="en-US" dirty="0"/>
              <a:t>Total records analyzed: 1,200</a:t>
            </a:r>
          </a:p>
          <a:p>
            <a:pPr>
              <a:buFont typeface="Wingdings" panose="05000000000000000000" pitchFamily="2" charset="2"/>
              <a:buChar char="Ø"/>
            </a:pPr>
            <a:r>
              <a:rPr lang="en-US" dirty="0"/>
              <a:t>Cities analyzed: 25</a:t>
            </a:r>
          </a:p>
          <a:p>
            <a:pPr>
              <a:buFont typeface="Wingdings" panose="05000000000000000000" pitchFamily="2" charset="2"/>
              <a:buChar char="Ø"/>
            </a:pPr>
            <a:r>
              <a:rPr lang="en-US" dirty="0"/>
              <a:t>States represented: 17</a:t>
            </a:r>
          </a:p>
          <a:p>
            <a:pPr>
              <a:buFont typeface="Wingdings" panose="05000000000000000000" pitchFamily="2" charset="2"/>
              <a:buChar char="Ø"/>
            </a:pPr>
            <a:r>
              <a:rPr lang="en-US" dirty="0"/>
              <a:t>Average total electricity consumption: 1,392.23 MU</a:t>
            </a:r>
          </a:p>
          <a:p>
            <a:pPr>
              <a:buFont typeface="Wingdings" panose="05000000000000000000" pitchFamily="2" charset="2"/>
              <a:buChar char="Ø"/>
            </a:pPr>
            <a:r>
              <a:rPr lang="en-US" dirty="0"/>
              <a:t>Maximum total consumption: 8,230.23 MU</a:t>
            </a:r>
          </a:p>
          <a:p>
            <a:pPr>
              <a:buFont typeface="Wingdings" panose="05000000000000000000" pitchFamily="2" charset="2"/>
              <a:buChar char="Ø"/>
            </a:pPr>
            <a:r>
              <a:rPr lang="en-US" dirty="0"/>
              <a:t>Minimum total consumption: 140.17 MU</a:t>
            </a:r>
          </a:p>
          <a:p>
            <a:pPr>
              <a:buFont typeface="Wingdings" panose="05000000000000000000" pitchFamily="2" charset="2"/>
              <a:buChar char="Ø"/>
            </a:pPr>
            <a:r>
              <a:rPr lang="en-US" dirty="0"/>
              <a:t>Average electrification rate: 98.09%</a:t>
            </a:r>
          </a:p>
          <a:p>
            <a:pPr>
              <a:buFont typeface="Wingdings" panose="05000000000000000000" pitchFamily="2" charset="2"/>
              <a:buChar char="Ø"/>
            </a:pPr>
            <a:r>
              <a:rPr lang="en-US" dirty="0"/>
              <a:t>Average renewable energy share: about 30% (from dataset values)</a:t>
            </a:r>
          </a:p>
          <a:p>
            <a:pPr>
              <a:buFont typeface="Wingdings" panose="05000000000000000000" pitchFamily="2" charset="2"/>
              <a:buChar char="Ø"/>
            </a:pPr>
            <a:r>
              <a:rPr lang="en-US" dirty="0"/>
              <a:t>Large metropolitan cities consume significantly more electricity than smaller cities.</a:t>
            </a:r>
          </a:p>
          <a:p>
            <a:pPr>
              <a:buFont typeface="Wingdings" panose="05000000000000000000" pitchFamily="2" charset="2"/>
              <a:buChar char="Ø"/>
            </a:pPr>
            <a:r>
              <a:rPr lang="en-US" dirty="0"/>
              <a:t>Industrial and residential sectors contribute the largest share of electricity consumption.</a:t>
            </a:r>
          </a:p>
          <a:p>
            <a:pPr>
              <a:buFont typeface="Wingdings" panose="05000000000000000000" pitchFamily="2" charset="2"/>
              <a:buChar char="Ø"/>
            </a:pPr>
            <a:r>
              <a:rPr lang="en-US" dirty="0"/>
              <a:t>Electricity demand increases during high-temperature months.</a:t>
            </a:r>
          </a:p>
          <a:p>
            <a:pPr>
              <a:buFont typeface="Wingdings" panose="05000000000000000000" pitchFamily="2" charset="2"/>
              <a:buChar char="Ø"/>
            </a:pPr>
            <a:r>
              <a:rPr lang="en-US" dirty="0"/>
              <a:t>Higher population generally leads to higher electricity consumption.</a:t>
            </a:r>
            <a:endParaRPr lang="en-IN" dirty="0"/>
          </a:p>
        </p:txBody>
      </p:sp>
    </p:spTree>
    <p:extLst>
      <p:ext uri="{BB962C8B-B14F-4D97-AF65-F5344CB8AC3E}">
        <p14:creationId xmlns:p14="http://schemas.microsoft.com/office/powerpoint/2010/main" val="3425515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9D882-2616-8CA0-8058-B5F4F4C8CEFB}"/>
              </a:ext>
            </a:extLst>
          </p:cNvPr>
          <p:cNvSpPr>
            <a:spLocks noGrp="1"/>
          </p:cNvSpPr>
          <p:nvPr>
            <p:ph type="title"/>
          </p:nvPr>
        </p:nvSpPr>
        <p:spPr/>
        <p:txBody>
          <a:bodyPr/>
          <a:lstStyle/>
          <a:p>
            <a:r>
              <a:rPr lang="en-US" sz="6000" b="1" dirty="0">
                <a:latin typeface="Bahnschrift SemiBold Condensed" panose="020B0502040204020203" pitchFamily="34" charset="0"/>
              </a:rPr>
              <a:t>conclusion</a:t>
            </a:r>
            <a:endParaRPr lang="en-IN" sz="6000" b="1" dirty="0">
              <a:latin typeface="Bahnschrift SemiBold Condensed" panose="020B0502040204020203" pitchFamily="34" charset="0"/>
            </a:endParaRPr>
          </a:p>
        </p:txBody>
      </p:sp>
      <p:sp>
        <p:nvSpPr>
          <p:cNvPr id="3" name="Content Placeholder 2">
            <a:extLst>
              <a:ext uri="{FF2B5EF4-FFF2-40B4-BE49-F238E27FC236}">
                <a16:creationId xmlns:a16="http://schemas.microsoft.com/office/drawing/2014/main" id="{43D49CFE-E4C5-2EF5-2FEA-C01DA9268900}"/>
              </a:ext>
            </a:extLst>
          </p:cNvPr>
          <p:cNvSpPr>
            <a:spLocks noGrp="1"/>
          </p:cNvSpPr>
          <p:nvPr>
            <p:ph sz="quarter" idx="13"/>
          </p:nvPr>
        </p:nvSpPr>
        <p:spPr/>
        <p:txBody>
          <a:bodyPr/>
          <a:lstStyle/>
          <a:p>
            <a:pPr marL="0" indent="0">
              <a:buNone/>
            </a:pPr>
            <a:r>
              <a:rPr lang="en-US" dirty="0"/>
              <a:t>This project successfully analyzed electricity consumption across different Indian cities using Power BI and data analytics. The analysis revealed significant variations in electricity demand based on population, industrial activity, climate, and seasonal factors. The interactive dashboard enables stakeholders to monitor consumption trends, compare regions, and make informed decisions. The project demonstrates how data visualization and business intelligence can support efficient energy management and sustainable electricity planning.</a:t>
            </a:r>
            <a:endParaRPr lang="en-IN" dirty="0"/>
          </a:p>
        </p:txBody>
      </p:sp>
    </p:spTree>
    <p:extLst>
      <p:ext uri="{BB962C8B-B14F-4D97-AF65-F5344CB8AC3E}">
        <p14:creationId xmlns:p14="http://schemas.microsoft.com/office/powerpoint/2010/main" val="1043104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ADB461-D5D5-3E44-3442-CF7D51656341}"/>
              </a:ext>
            </a:extLst>
          </p:cNvPr>
          <p:cNvSpPr>
            <a:spLocks noGrp="1"/>
          </p:cNvSpPr>
          <p:nvPr>
            <p:ph type="title"/>
          </p:nvPr>
        </p:nvSpPr>
        <p:spPr>
          <a:xfrm>
            <a:off x="913774" y="2630911"/>
            <a:ext cx="10364451" cy="1596177"/>
          </a:xfrm>
        </p:spPr>
        <p:txBody>
          <a:bodyPr>
            <a:normAutofit/>
          </a:bodyPr>
          <a:lstStyle/>
          <a:p>
            <a:r>
              <a:rPr lang="en-US" sz="7200" b="1" u="sng" dirty="0">
                <a:solidFill>
                  <a:schemeClr val="accent6">
                    <a:lumMod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Thank you</a:t>
            </a:r>
            <a:endParaRPr lang="en-IN" sz="7200" b="1" u="sng" dirty="0">
              <a:solidFill>
                <a:schemeClr val="accent6">
                  <a:lumMod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5912052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212</TotalTime>
  <Words>814</Words>
  <Application>Microsoft Office PowerPoint</Application>
  <PresentationFormat>Widescreen</PresentationFormat>
  <Paragraphs>101</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Bahnschrift SemiBold Condensed</vt:lpstr>
      <vt:lpstr>Cambria</vt:lpstr>
      <vt:lpstr>Tw Cen MT</vt:lpstr>
      <vt:lpstr>Wingdings</vt:lpstr>
      <vt:lpstr>Droplet</vt:lpstr>
      <vt:lpstr>ELECTRICITY CONSUMPTION ACROSS DIFFERENT CITIES</vt:lpstr>
      <vt:lpstr>INTRODUCTION</vt:lpstr>
      <vt:lpstr>OBJECTIVES</vt:lpstr>
      <vt:lpstr>DATASET OVERVIEW</vt:lpstr>
      <vt:lpstr>IMPORTANT COLUMNS</vt:lpstr>
      <vt:lpstr>Data CLEANING</vt:lpstr>
      <vt:lpstr>DASHBOARD QUESTION 1</vt:lpstr>
      <vt:lpstr>Dashboard question 2</vt:lpstr>
      <vt:lpstr>Dashboard question 3</vt:lpstr>
      <vt:lpstr>Dashboard question 4</vt:lpstr>
      <vt:lpstr>Dashboard question 5</vt:lpstr>
      <vt:lpstr>Key insights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Aggarwal</dc:creator>
  <cp:lastModifiedBy>Nikhil Aggarwal</cp:lastModifiedBy>
  <cp:revision>6</cp:revision>
  <dcterms:created xsi:type="dcterms:W3CDTF">2026-07-03T13:56:18Z</dcterms:created>
  <dcterms:modified xsi:type="dcterms:W3CDTF">2026-07-04T01:37:24Z</dcterms:modified>
</cp:coreProperties>
</file>